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80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FAF6A"/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274320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67728" y="274320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51776" y="274320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35824" y="274320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19872" y="274320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03920" y="274320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658368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67728" y="658368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51776" y="658368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35824" y="658368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19872" y="658368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0" y="658368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042416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67728" y="1042416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51776" y="1042416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35824" y="1042416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19872" y="1042416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3920" y="1042416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1426464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67728" y="1426464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51776" y="1426464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35824" y="1426464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19872" y="1426464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03920" y="1426464"/>
            <a:ext cx="73152" cy="73152"/>
          </a:xfrm>
          <a:prstGeom prst="ellipse">
            <a:avLst/>
          </a:prstGeom>
          <a:solidFill>
            <a:srgbClr val="8FAF6A">
              <a:alpha val="4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solidFill>
            <a:srgbClr val="8FAF6A"/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914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GOVERNANCE TOOL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13258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Consortium Indicator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Tool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365760" y="3154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Sheets workflow for multi-partner MEL indicator harmonization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286000" cy="36576"/>
          </a:xfrm>
          <a:prstGeom prst="rect">
            <a:avLst/>
          </a:prstGeom>
          <a:solidFill>
            <a:srgbClr val="8FAF6A"/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Burgen Bell-Tawn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Consortium MEL is hard to harmonize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submit different indicators for the same program — creating reporting risk, audit exposure, and fragmented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828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Incomparable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" y="27432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numerators, denominators, or definitions make cross-partner aggregation unreliable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164592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828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83280" y="27432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are caught late — often at reporting time — rather than during design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64592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288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7648" y="2331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decision trail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27648" y="274320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decisions are undocumented, leaving programs exposed in audits and evaluations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CIR Tool does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410733" y="754932"/>
            <a:ext cx="3640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Consortium Indicator Review Tool is a Google Sheets + Apps Script workflow that: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5735" y="1188720"/>
            <a:ext cx="8069996" cy="898398"/>
          </a:xfrm>
          <a:prstGeom prst="rect">
            <a:avLst/>
          </a:prstGeom>
          <a:noFill/>
          <a:ln/>
        </p:spPr>
        <p:txBody>
          <a:bodyPr wrap="square" lIns="0" tIns="0" rIns="0" bIns="0" numCol="3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each partner's indicator submissions field-by-field against a designated Reference agency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meaningful differences for governance review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reporting risk (comparability, validity, auditability)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harmonized positions using the Reference agency as the authoritative baseline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documented decision trail for audits and donor reporting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ABA89-AF62-175A-EE2D-85E1AD2AF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3" y="2150431"/>
            <a:ext cx="6820591" cy="286837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mode vs AI-assisted mode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mode for your team's capacity and context.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023360" cy="502920"/>
          </a:xfrm>
          <a:prstGeom prst="rect">
            <a:avLst/>
          </a:prstGeom>
          <a:solidFill>
            <a:srgbClr val="3D4F5C"/>
          </a:solidFill>
          <a:ln w="12700">
            <a:solidFill>
              <a:srgbClr val="3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68249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212848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structures and moves data through each step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fill in all risk assessments, harmonized positions, and decisions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required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appropriate when AI analysis needs to be auditable or when working with sensitive program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always runs automatically regardless of mode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4023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600200"/>
            <a:ext cx="4023360" cy="50292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8249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6944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MODE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28032" y="2212848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drafts risk assessments, harmonized positions, and decision framing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review, correct, and finalize all AI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API key from your chosen LLM provider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is always a draft — bracket flags [FLAG:] [UNCERTAIN:] [ASSUMPTION:] mark items requiring human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LLM provider (Anthropic, OpenAI, Gemini, etc.)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16052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8FA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four-step sequential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reads from the previous. Run in order from the Indicator Tool menu.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75488" cy="47548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060" y="2075688"/>
            <a:ext cx="27432" cy="347472"/>
          </a:xfrm>
          <a:prstGeom prst="rect">
            <a:avLst/>
          </a:prstGeom>
          <a:solidFill>
            <a:srgbClr val="D9D4CC"/>
          </a:solidFill>
          <a:ln w="1270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36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Indicators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83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intake data and diffs every field against the Reference agency. Always automated.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73352"/>
            <a:ext cx="1737360" cy="256032"/>
          </a:xfrm>
          <a:prstGeom prst="rect">
            <a:avLst/>
          </a:prstGeom>
          <a:solidFill>
            <a:srgbClr val="2D5016">
              <a:alpha val="15000"/>
            </a:srgbClr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673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automated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75488" cy="475488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" y="2898648"/>
            <a:ext cx="27432" cy="347472"/>
          </a:xfrm>
          <a:prstGeom prst="rect">
            <a:avLst/>
          </a:prstGeom>
          <a:solidFill>
            <a:srgbClr val="D9D4CC"/>
          </a:solidFill>
          <a:ln w="1270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Reporting Risk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706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each difference for comparability, validity, and audit risk.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496312"/>
            <a:ext cx="1737360" cy="256032"/>
          </a:xfrm>
          <a:prstGeom prst="rect">
            <a:avLst/>
          </a:prstGeom>
          <a:solidFill>
            <a:srgbClr val="5A7A3A">
              <a:alpha val="15000"/>
            </a:srgbClr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2496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5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or Manual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475488" cy="475488"/>
          </a:xfrm>
          <a:prstGeom prst="rect">
            <a:avLst/>
          </a:prstGeom>
          <a:solidFill>
            <a:srgbClr val="C17D2A"/>
          </a:solidFill>
          <a:ln w="12700">
            <a:solidFill>
              <a:srgbClr val="C17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80060" y="3721608"/>
            <a:ext cx="27432" cy="347472"/>
          </a:xfrm>
          <a:prstGeom prst="rect">
            <a:avLst/>
          </a:prstGeom>
          <a:solidFill>
            <a:srgbClr val="D9D4CC"/>
          </a:solidFill>
          <a:ln w="1270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3282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Harmonized Position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529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 shared field-level position starting from Reference agency text.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3319272"/>
            <a:ext cx="1737360" cy="256032"/>
          </a:xfrm>
          <a:prstGeom prst="rect">
            <a:avLst/>
          </a:prstGeom>
          <a:solidFill>
            <a:srgbClr val="5A7A3A">
              <a:alpha val="15000"/>
            </a:srgbClr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3319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5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or Manual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475488" cy="475488"/>
          </a:xfrm>
          <a:prstGeom prst="rect">
            <a:avLst/>
          </a:prstGeom>
          <a:solidFill>
            <a:srgbClr val="3D4F5C"/>
          </a:solidFill>
          <a:ln w="12700">
            <a:solidFill>
              <a:srgbClr val="3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69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Decision Gate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352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sign-off. You set the final status for each field.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4142232"/>
            <a:ext cx="1737360" cy="256032"/>
          </a:xfrm>
          <a:prstGeom prst="rect">
            <a:avLst/>
          </a:prstGeom>
          <a:solidFill>
            <a:srgbClr val="C17D2A">
              <a:alpha val="15000"/>
            </a:srgbClr>
          </a:solidFill>
          <a:ln w="12700">
            <a:solidFill>
              <a:srgbClr val="C17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4142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C1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2CDDE45-94E9-2AE6-150F-8C2FD4A70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51" y="1716786"/>
            <a:ext cx="2606857" cy="259003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Compare Indicators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automatically. No AI. No manual option.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190"/>
            <a:ext cx="2011680" cy="159119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011680" cy="54864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reads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716564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INDICATOR_INTAKE sheet — one row per agency per indicator. All partner submissions.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600200"/>
            <a:ext cx="2011680" cy="159119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1600200"/>
            <a:ext cx="2011680" cy="54864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produces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1716564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flagged field difference. Fields with no difference are left blank.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600200"/>
            <a:ext cx="2011680" cy="159119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600200"/>
            <a:ext cx="2011680" cy="54864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716564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output. Do not edit system cells. Add Reviewer Notes if needed.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600200"/>
            <a:ext cx="2011680" cy="1591191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1600200"/>
            <a:ext cx="2011680" cy="54864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31152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partners differ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1152" y="1716564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with no Reference agency row are skipped with a warning — not an error. Check RUN_LOG.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70ACA1-0B72-448C-B06B-FF06F3952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378979"/>
            <a:ext cx="6570380" cy="1563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Check Reporting Risk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analysis. You set the final Risk Level.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86742" y="1367028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creates one row per flagged difference from Step 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mode, drafts Risk Type, Description, and Conditions for each row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final Risk Level: High / Medium / Low / None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Risk Level edits carry forward into Step 3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6170BF-6F77-92A3-A37F-F7F3FADEA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7" y="3082360"/>
            <a:ext cx="8625123" cy="170265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17D2A"/>
          </a:solidFill>
          <a:ln w="12700">
            <a:solidFill>
              <a:srgbClr val="C17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Draft Harmonized Position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starting from the Reference agency's exact text.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drafts the harmonized position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37989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the Reference agency's exact text — not a synthesis of all partners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deviates when a partner difference reveals a specific technical problem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filter by risk level — focus on High/Medium rows first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drafts are prefixed DRAFT: and require human review before finalizing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 flags require human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1234440" cy="237744"/>
          </a:xfrm>
          <a:prstGeom prst="rect">
            <a:avLst/>
          </a:prstGeom>
          <a:solidFill>
            <a:srgbClr val="E8F0DC"/>
          </a:solidFill>
          <a:ln w="9525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39776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[FLAG:]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3995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risk or issue the AI is flagging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306824"/>
            <a:ext cx="1234440" cy="237744"/>
          </a:xfrm>
          <a:prstGeom prst="rect">
            <a:avLst/>
          </a:prstGeom>
          <a:solidFill>
            <a:srgbClr val="E8F0DC"/>
          </a:solidFill>
          <a:ln w="9525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3068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[UNCERTAIN:]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72768" y="43251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lacks sufficient information to be confident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636008"/>
            <a:ext cx="1234440" cy="237744"/>
          </a:xfrm>
          <a:prstGeom prst="rect">
            <a:avLst/>
          </a:prstGeom>
          <a:solidFill>
            <a:srgbClr val="E8F0DC"/>
          </a:solidFill>
          <a:ln w="9525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6360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[ASSUMPTION:]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46542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made an assumption that needs verification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A9AD32-9E4A-9382-9227-FD5A0712C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972" y="1998009"/>
            <a:ext cx="4911647" cy="196591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D4F5C"/>
          </a:solidFill>
          <a:ln w="12700">
            <a:solidFill>
              <a:srgbClr val="3D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Final Decision Gate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sign-off. AI frames the decision; you make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54864" cy="68580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728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Risk Decision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Accept with Conditions / Escalate / Defer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54864" cy="68580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Notes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" y="3026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rationale — creates the audit trail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54864" cy="685800"/>
          </a:xfrm>
          <a:prstGeom prst="rect">
            <a:avLst/>
          </a:prstGeom>
          <a:solidFill>
            <a:srgbClr val="C17D2A"/>
          </a:solidFill>
          <a:ln w="12700">
            <a:solidFill>
              <a:srgbClr val="C17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Approved with Conditions / Revise / Do Not Standardize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in the RUN_LOG and TOKEN_LOG sheets — creating a full audit trail.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9689-F217-B5DB-F7DE-CD6065C46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434" y="1527048"/>
            <a:ext cx="3959790" cy="314096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AI-assisted mode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calls your chosen LLM's API. You bring your own key.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691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(Intake Sheet)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4832" y="2276856"/>
            <a:ext cx="320040" cy="36576"/>
          </a:xfrm>
          <a:prstGeom prst="rect">
            <a:avLst/>
          </a:prstGeom>
          <a:solidFill>
            <a:srgbClr val="8FA0AD"/>
          </a:solidFill>
          <a:ln w="12700">
            <a:solidFill>
              <a:srgbClr val="8FA0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94560" y="2176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691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 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(Apps Script)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276856"/>
            <a:ext cx="320040" cy="36576"/>
          </a:xfrm>
          <a:prstGeom prst="rect">
            <a:avLst/>
          </a:prstGeom>
          <a:solidFill>
            <a:srgbClr val="8FA0AD"/>
          </a:solidFill>
          <a:ln w="12700">
            <a:solidFill>
              <a:srgbClr val="8FA0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2176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1691640" cy="1005840"/>
          </a:xfrm>
          <a:prstGeom prst="rect">
            <a:avLst/>
          </a:prstGeom>
          <a:solidFill>
            <a:srgbClr val="E8F0DC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50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call)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73952" y="2276856"/>
            <a:ext cx="320040" cy="36576"/>
          </a:xfrm>
          <a:prstGeom prst="rect">
            <a:avLst/>
          </a:prstGeom>
          <a:solidFill>
            <a:srgbClr val="8FA0AD"/>
          </a:solidFill>
          <a:ln w="12700">
            <a:solidFill>
              <a:srgbClr val="8FA0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176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1828800"/>
            <a:ext cx="1691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18288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(Sheet cells)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09981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3232" y="306324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stored in Google Apps Script properties — never in the spreadsheet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575304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3232" y="353872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any LLM provider: Anthropic, OpenAI, Google Gemini, and others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40507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" y="401421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data has a knowledge cutoff — outdated donor/org references may appear. Always review.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52628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" y="448970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TOKEN_LOG sheet tracks API usage and estimated cost per step run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Documents — optional but recommended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AI analysis in your program's actual standards, not generic best practice.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add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19" y="1956816"/>
            <a:ext cx="34248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reporting requirements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standards and thresholds (e.g. SPHERE, WFP FCS weights)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MEL framework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or program-specific definitions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add them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639312"/>
            <a:ext cx="34248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Extraction Prompt → paste into any external AI → paste output back into the sheet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Add Manual Row and paste excerpts directly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2,000 characters per excerpt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Show Token Estimates before running AI steps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6B5238-56ED-9497-B145-771C6BCAE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324" y="1981774"/>
            <a:ext cx="4994356" cy="248297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0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runs inside Google Sheets using built-in scripting — no installs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852179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384048" cy="65836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" y="16642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workbook in Google Drive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19110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-&gt; Make a copy. This gives you your own version to configure and use.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22576"/>
            <a:ext cx="4513811" cy="9925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384048" cy="859536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322576"/>
            <a:ext cx="3840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" y="2404872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for the Indicator Tool menu in the spreadsheet menu bar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2785599"/>
            <a:ext cx="40200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open your copy, a custom menu called Indicator Tool should appear next to Help in the menu bar. If it doesn't appear, go to Extensions -&gt; Apps Script, select onOpen from the function dropdown at the top, and click Run once. The menu will then appear every time you open the sheet.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06560"/>
            <a:ext cx="8595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406560"/>
            <a:ext cx="384048" cy="658368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40656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096" y="348885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Indicator Tool -&gt; Setup / Repair Workbook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74488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all required sheets, headers, and formatting. Safe to re-run at any time — never overwrites your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156368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156368"/>
            <a:ext cx="384048" cy="82296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156368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" y="4238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your API key (AI mode only)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4494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-&gt; Apps Script -&gt; Project Settings -&gt; Script Properties. Add your LLM provider key.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4156368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4156368"/>
            <a:ext cx="384048" cy="82296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4156368"/>
            <a:ext cx="384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02936" y="4238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the Control Panel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02936" y="4494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Reference Agency, Partner Agencies, and Workflow Mode. You're ready to run Step 1.</a:t>
            </a:r>
            <a:endParaRPr lang="en-US" sz="9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8B6B91C-ED30-CCC9-9DC0-AB998A346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912" y="2595157"/>
            <a:ext cx="3886200" cy="38088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4EFEF23-FB13-2B75-207F-C42A982246B6}"/>
              </a:ext>
            </a:extLst>
          </p:cNvPr>
          <p:cNvSpPr/>
          <p:nvPr/>
        </p:nvSpPr>
        <p:spPr>
          <a:xfrm>
            <a:off x="8038407" y="2752344"/>
            <a:ext cx="593529" cy="1487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5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79008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54496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729984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05472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56448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31936" y="274320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0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79008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54496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29984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05472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0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56448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31936" y="749808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03520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79008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54496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9984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05472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0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56448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31936" y="1225296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03520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79008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54496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29984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05472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0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56448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31936" y="1700784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03520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79008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54496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29984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205472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80960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56448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631936" y="2176272"/>
            <a:ext cx="73152" cy="73152"/>
          </a:xfrm>
          <a:prstGeom prst="ellipse">
            <a:avLst/>
          </a:prstGeom>
          <a:solidFill>
            <a:srgbClr val="8FAF6A">
              <a:alpha val="35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FAF6A"/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MEL practitioners.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365760" y="1783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Consortium Indicator Review Tool was designed to support indicator harmonization structured, transparent, and auditable — without requiring deep technical expertise.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2880360"/>
            <a:ext cx="2286000" cy="36576"/>
          </a:xfrm>
          <a:prstGeom prst="rect">
            <a:avLst/>
          </a:prstGeom>
          <a:solidFill>
            <a:srgbClr val="8FAF6A"/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Burgen </a:t>
            </a:r>
            <a:r>
              <a:rPr lang="en-US" sz="1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Belltawn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657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Specialist · https://</a:t>
            </a:r>
            <a:r>
              <a:rPr lang="en-US" sz="1200" dirty="0" err="1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belltawnb.github.io</a:t>
            </a:r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|https://</a:t>
            </a:r>
            <a:r>
              <a:rPr lang="en-US" sz="1200" dirty="0" err="1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</a:t>
            </a:r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/in/</a:t>
            </a:r>
            <a:r>
              <a:rPr lang="en-US" sz="1200" dirty="0" err="1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burgen</a:t>
            </a:r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977640"/>
            <a:ext cx="2560320" cy="310896"/>
          </a:xfrm>
          <a:prstGeom prst="rect">
            <a:avLst/>
          </a:prstGeom>
          <a:solidFill>
            <a:srgbClr val="8FAF6A">
              <a:alpha val="3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3977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+ Apps Script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63240" y="3977640"/>
            <a:ext cx="1737360" cy="310896"/>
          </a:xfrm>
          <a:prstGeom prst="rect">
            <a:avLst/>
          </a:prstGeom>
          <a:solidFill>
            <a:srgbClr val="8FAF6A">
              <a:alpha val="30000"/>
            </a:srgbClr>
          </a:solidFill>
          <a:ln w="12700">
            <a:solidFill>
              <a:srgbClr val="8F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63240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1221</Words>
  <Application>Microsoft Macintosh PowerPoint</Application>
  <PresentationFormat>On-screen Show (16:9)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Consortium Indicator Review Tool</dc:title>
  <dc:subject>PptxGenJS Presentation</dc:subject>
  <dc:creator>Burgen Bell-Tawn</dc:creator>
  <cp:lastModifiedBy>Burgen Belltawn</cp:lastModifiedBy>
  <cp:revision>7</cp:revision>
  <dcterms:created xsi:type="dcterms:W3CDTF">2026-03-05T19:44:35Z</dcterms:created>
  <dcterms:modified xsi:type="dcterms:W3CDTF">2026-03-06T02:28:08Z</dcterms:modified>
</cp:coreProperties>
</file>